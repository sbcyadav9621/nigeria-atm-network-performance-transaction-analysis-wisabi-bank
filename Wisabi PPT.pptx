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5" r:id="rId3"/>
    <p:sldId id="260" r:id="rId4"/>
    <p:sldId id="257" r:id="rId5"/>
    <p:sldId id="258" r:id="rId6"/>
    <p:sldId id="266" r:id="rId7"/>
    <p:sldId id="279" r:id="rId8"/>
    <p:sldId id="280" r:id="rId9"/>
    <p:sldId id="262" r:id="rId10"/>
    <p:sldId id="261" r:id="rId11"/>
    <p:sldId id="263" r:id="rId12"/>
    <p:sldId id="264" r:id="rId13"/>
    <p:sldId id="265" r:id="rId14"/>
    <p:sldId id="267" r:id="rId15"/>
    <p:sldId id="268" r:id="rId16"/>
    <p:sldId id="269" r:id="rId17"/>
    <p:sldId id="271" r:id="rId18"/>
    <p:sldId id="270" r:id="rId19"/>
    <p:sldId id="272" r:id="rId20"/>
    <p:sldId id="273" r:id="rId21"/>
    <p:sldId id="274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D8E6"/>
    <a:srgbClr val="E6C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82DDD8-A340-4118-8C2F-380C6D9D0B7C}" v="40" dt="2026-03-26T10:55:15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 4">
            <a:extLst>
              <a:ext uri="{FF2B5EF4-FFF2-40B4-BE49-F238E27FC236}">
                <a16:creationId xmlns:a16="http://schemas.microsoft.com/office/drawing/2014/main" id="{CE732BE4-54D6-10D5-862F-6B40E4DBF9E4}"/>
              </a:ext>
            </a:extLst>
          </p:cNvPr>
          <p:cNvSpPr/>
          <p:nvPr/>
        </p:nvSpPr>
        <p:spPr>
          <a:xfrm>
            <a:off x="-6490" y="2211916"/>
            <a:ext cx="12205570" cy="171974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400" b="1">
                <a:solidFill>
                  <a:schemeClr val="bg1"/>
                </a:solidFill>
                <a:latin typeface="Times New Roman"/>
                <a:cs typeface="Times New Roman"/>
              </a:rPr>
              <a:t>WISABI BANK ATM TRANSACTION ANALYSIS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0E042A-A79F-5028-7BCD-2386903ED6D2}"/>
              </a:ext>
            </a:extLst>
          </p:cNvPr>
          <p:cNvSpPr/>
          <p:nvPr/>
        </p:nvSpPr>
        <p:spPr>
          <a:xfrm>
            <a:off x="1082040" y="487680"/>
            <a:ext cx="3779520" cy="777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373E76-9D6B-5873-7525-706F351D1D1A}"/>
              </a:ext>
            </a:extLst>
          </p:cNvPr>
          <p:cNvSpPr/>
          <p:nvPr/>
        </p:nvSpPr>
        <p:spPr>
          <a:xfrm>
            <a:off x="1082039" y="1709756"/>
            <a:ext cx="10335594" cy="39546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800" err="1">
                <a:solidFill>
                  <a:schemeClr val="tx1"/>
                </a:solidFill>
                <a:latin typeface="Times New Roman"/>
                <a:cs typeface="Times New Roman"/>
              </a:rPr>
              <a:t>Wisabi</a:t>
            </a: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 Bank lacks visibility into ATM performance and customer behavior, leading to:</a:t>
            </a:r>
          </a:p>
          <a:p>
            <a:endParaRPr lang="en-US" sz="2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  Frequent cash-outs at peak hours</a:t>
            </a:r>
          </a:p>
          <a:p>
            <a:pPr>
              <a:buFont typeface="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  Poor ATM resource distribution</a:t>
            </a:r>
          </a:p>
          <a:p>
            <a:pPr>
              <a:buFont typeface="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  Limited fraud detection</a:t>
            </a:r>
          </a:p>
          <a:p>
            <a:pPr>
              <a:buFont typeface="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  No clarity on revenue-driving ATMs</a:t>
            </a:r>
          </a:p>
          <a:p>
            <a:pPr>
              <a:buFont typeface="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  Weak insights into customer usage patterns</a:t>
            </a:r>
          </a:p>
        </p:txBody>
      </p:sp>
    </p:spTree>
    <p:extLst>
      <p:ext uri="{BB962C8B-B14F-4D97-AF65-F5344CB8AC3E}">
        <p14:creationId xmlns:p14="http://schemas.microsoft.com/office/powerpoint/2010/main" val="1746656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DDE28-6F93-85F7-DEAD-846B4E724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DD53C2FE-25A5-CBCB-5106-5C12E35DBE78}"/>
              </a:ext>
            </a:extLst>
          </p:cNvPr>
          <p:cNvSpPr/>
          <p:nvPr/>
        </p:nvSpPr>
        <p:spPr>
          <a:xfrm>
            <a:off x="1360" y="152601"/>
            <a:ext cx="3809099" cy="76546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 b="1">
                <a:solidFill>
                  <a:schemeClr val="bg1"/>
                </a:solidFill>
                <a:latin typeface="Times New Roman"/>
                <a:cs typeface="Times New Roman"/>
              </a:rPr>
              <a:t>Objective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86E95D-9E75-2725-27F8-E9B674AFFC86}"/>
              </a:ext>
            </a:extLst>
          </p:cNvPr>
          <p:cNvSpPr/>
          <p:nvPr/>
        </p:nvSpPr>
        <p:spPr>
          <a:xfrm>
            <a:off x="1208305" y="1542234"/>
            <a:ext cx="10169492" cy="37730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800" b="1">
                <a:solidFill>
                  <a:schemeClr val="tx1"/>
                </a:solidFill>
                <a:latin typeface="Times New Roman"/>
                <a:cs typeface="Times New Roman"/>
              </a:rPr>
              <a:t>Use data-driven analytics to:</a:t>
            </a:r>
          </a:p>
          <a:p>
            <a:endParaRPr lang="en-US" sz="2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  Identify high-volume ATMs and regions</a:t>
            </a:r>
          </a:p>
          <a:p>
            <a:pPr>
              <a:buFont typeface="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  Pinpoint peak usage hours and days</a:t>
            </a:r>
          </a:p>
          <a:p>
            <a:pPr>
              <a:buFont typeface="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  Track transaction types and top customers</a:t>
            </a:r>
          </a:p>
          <a:p>
            <a:pPr>
              <a:buFont typeface="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  Detect unusual or risky patterns</a:t>
            </a:r>
          </a:p>
          <a:p>
            <a:pPr>
              <a:buFont typeface=""/>
              <a:buChar char="•"/>
            </a:pPr>
            <a:r>
              <a:rPr lang="en-US" sz="2800">
                <a:solidFill>
                  <a:schemeClr val="tx1"/>
                </a:solidFill>
                <a:latin typeface="Times New Roman"/>
                <a:cs typeface="Times New Roman"/>
              </a:rPr>
              <a:t>  Optimize ATM operations and enhance customer experience</a:t>
            </a:r>
            <a:endParaRPr lang="en-US" sz="28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47049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D8F0-36F4-0ACC-89D3-B908FF18935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Key Components of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B8F71-3F68-789B-EBA8-1E5994E4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8993" y="1696228"/>
            <a:ext cx="6288657" cy="2726698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Customer Information</a:t>
            </a:r>
          </a:p>
          <a:p>
            <a:r>
              <a:rPr lang="en-US"/>
              <a:t>ATM Location Details</a:t>
            </a:r>
          </a:p>
          <a:p>
            <a:r>
              <a:rPr lang="en-US"/>
              <a:t>Transactional Data</a:t>
            </a:r>
          </a:p>
          <a:p>
            <a:r>
              <a:rPr lang="en-US"/>
              <a:t>Transaction Type Data</a:t>
            </a:r>
          </a:p>
          <a:p>
            <a:r>
              <a:rPr lang="en-US"/>
              <a:t>Calendar Information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8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Right 6">
            <a:extLst>
              <a:ext uri="{FF2B5EF4-FFF2-40B4-BE49-F238E27FC236}">
                <a16:creationId xmlns:a16="http://schemas.microsoft.com/office/drawing/2014/main" id="{B839C3F2-670C-6871-F3A5-07D1A06B1FFE}"/>
              </a:ext>
            </a:extLst>
          </p:cNvPr>
          <p:cNvSpPr/>
          <p:nvPr/>
        </p:nvSpPr>
        <p:spPr>
          <a:xfrm>
            <a:off x="718496" y="1711314"/>
            <a:ext cx="851157" cy="423272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49D982D-4B32-C6C4-756E-6D151FED97F5}"/>
              </a:ext>
            </a:extLst>
          </p:cNvPr>
          <p:cNvSpPr/>
          <p:nvPr/>
        </p:nvSpPr>
        <p:spPr>
          <a:xfrm>
            <a:off x="718495" y="2962145"/>
            <a:ext cx="851157" cy="423272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F3DC14F-A21B-C6BC-B4DF-A4E0A9BEC6F3}"/>
              </a:ext>
            </a:extLst>
          </p:cNvPr>
          <p:cNvSpPr/>
          <p:nvPr/>
        </p:nvSpPr>
        <p:spPr>
          <a:xfrm>
            <a:off x="718496" y="4083580"/>
            <a:ext cx="851157" cy="423272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9EE2446-D52F-F9ED-A17E-74E6E8DAF366}"/>
              </a:ext>
            </a:extLst>
          </p:cNvPr>
          <p:cNvSpPr/>
          <p:nvPr/>
        </p:nvSpPr>
        <p:spPr>
          <a:xfrm>
            <a:off x="718495" y="5262521"/>
            <a:ext cx="851157" cy="423272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04CA38-0123-65BF-07FC-465B7B224D46}"/>
              </a:ext>
            </a:extLst>
          </p:cNvPr>
          <p:cNvSpPr/>
          <p:nvPr/>
        </p:nvSpPr>
        <p:spPr>
          <a:xfrm>
            <a:off x="1810237" y="1465168"/>
            <a:ext cx="9026215" cy="9009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baseline="0">
                <a:solidFill>
                  <a:schemeClr val="tx1"/>
                </a:solidFill>
                <a:latin typeface="Times New Roman"/>
                <a:ea typeface="Segoe UI"/>
                <a:cs typeface="Times New Roman"/>
              </a:rPr>
              <a:t>Understanding transaction patterns and trends, </a:t>
            </a:r>
            <a:r>
              <a:rPr lang="en-US" sz="2800" b="1">
                <a:solidFill>
                  <a:schemeClr val="tx1"/>
                </a:solidFill>
                <a:latin typeface="Times New Roman"/>
                <a:ea typeface="Segoe UI"/>
                <a:cs typeface="Times New Roman"/>
              </a:rPr>
              <a:t>and define</a:t>
            </a:r>
            <a:r>
              <a:rPr lang="en-US" sz="2800" b="1" baseline="0">
                <a:solidFill>
                  <a:schemeClr val="tx1"/>
                </a:solidFill>
                <a:latin typeface="Times New Roman"/>
                <a:ea typeface="Segoe UI"/>
                <a:cs typeface="Times New Roman"/>
              </a:rPr>
              <a:t> objectives</a:t>
            </a:r>
            <a:r>
              <a:rPr lang="en-US" sz="2800" b="1">
                <a:solidFill>
                  <a:schemeClr val="tx1"/>
                </a:solidFill>
                <a:latin typeface="Times New Roman"/>
                <a:ea typeface="Aptos"/>
                <a:cs typeface="Times New Roman"/>
              </a:rPr>
              <a:t>​</a:t>
            </a:r>
            <a:endParaRPr lang="en-US" sz="28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B05311-99DC-00EC-9627-43311DFE70BE}"/>
              </a:ext>
            </a:extLst>
          </p:cNvPr>
          <p:cNvSpPr/>
          <p:nvPr/>
        </p:nvSpPr>
        <p:spPr>
          <a:xfrm>
            <a:off x="1810237" y="2773508"/>
            <a:ext cx="9026215" cy="8003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800" b="1">
              <a:solidFill>
                <a:schemeClr val="tx1"/>
              </a:solidFill>
              <a:latin typeface="Times New Roman"/>
              <a:ea typeface="Segoe UI"/>
              <a:cs typeface="Times New Roman"/>
            </a:endParaRPr>
          </a:p>
          <a:p>
            <a:pPr algn="ctr"/>
            <a:r>
              <a:rPr lang="en-US" sz="2800" b="1">
                <a:solidFill>
                  <a:schemeClr val="tx1"/>
                </a:solidFill>
                <a:latin typeface="Times New Roman"/>
                <a:ea typeface="Segoe UI"/>
                <a:cs typeface="Times New Roman"/>
              </a:rPr>
              <a:t>Data gathering </a:t>
            </a:r>
            <a:r>
              <a:rPr lang="en-US" sz="2800" b="1" baseline="0">
                <a:solidFill>
                  <a:schemeClr val="tx1"/>
                </a:solidFill>
                <a:latin typeface="Times New Roman"/>
                <a:ea typeface="Segoe UI"/>
                <a:cs typeface="Times New Roman"/>
              </a:rPr>
              <a:t>and </a:t>
            </a:r>
            <a:r>
              <a:rPr lang="en-US" sz="2800" b="1">
                <a:solidFill>
                  <a:schemeClr val="tx1"/>
                </a:solidFill>
                <a:latin typeface="Times New Roman"/>
                <a:ea typeface="Segoe UI"/>
                <a:cs typeface="Times New Roman"/>
              </a:rPr>
              <a:t>Data Preparation</a:t>
            </a:r>
            <a:endParaRPr lang="en-US" sz="28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endParaRPr lang="en-US" sz="2800" b="1">
              <a:latin typeface="Times New Roman"/>
              <a:cs typeface="Times New Roman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A478D0-56B3-B9E6-099B-DDFD71DEBA90}"/>
              </a:ext>
            </a:extLst>
          </p:cNvPr>
          <p:cNvSpPr/>
          <p:nvPr/>
        </p:nvSpPr>
        <p:spPr>
          <a:xfrm>
            <a:off x="1810236" y="3894942"/>
            <a:ext cx="9026215" cy="8003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800" b="1">
              <a:solidFill>
                <a:schemeClr val="tx1"/>
              </a:solidFill>
              <a:cs typeface="Segoe UI"/>
            </a:endParaRPr>
          </a:p>
          <a:p>
            <a:pPr algn="ctr"/>
            <a:r>
              <a:rPr lang="en-US" sz="2800" b="1">
                <a:solidFill>
                  <a:schemeClr val="tx1"/>
                </a:solidFill>
                <a:latin typeface="Times New Roman"/>
                <a:cs typeface="Times New Roman"/>
              </a:rPr>
              <a:t>Data Processing and Analysis</a:t>
            </a:r>
          </a:p>
          <a:p>
            <a:pPr algn="ctr"/>
            <a:endParaRPr lang="en-US" sz="2800" b="1">
              <a:solidFill>
                <a:srgbClr val="FFFFFF"/>
              </a:solidFill>
              <a:cs typeface="Segoe U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4EE59C-4C37-5E30-E045-F5A740A9F67F}"/>
              </a:ext>
            </a:extLst>
          </p:cNvPr>
          <p:cNvSpPr/>
          <p:nvPr/>
        </p:nvSpPr>
        <p:spPr>
          <a:xfrm>
            <a:off x="1810235" y="5073884"/>
            <a:ext cx="9026215" cy="8003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baseline="0">
                <a:solidFill>
                  <a:schemeClr val="tx1"/>
                </a:solidFill>
                <a:latin typeface="Aptos"/>
                <a:ea typeface="Segoe UI"/>
                <a:cs typeface="Segoe UI"/>
              </a:rPr>
              <a:t>Visualization, </a:t>
            </a:r>
            <a:r>
              <a:rPr lang="en-US" sz="2800" b="1" baseline="0">
                <a:solidFill>
                  <a:schemeClr val="tx1"/>
                </a:solidFill>
                <a:latin typeface="Times New Roman"/>
                <a:ea typeface="Segoe UI"/>
                <a:cs typeface="Times New Roman"/>
              </a:rPr>
              <a:t>generating</a:t>
            </a:r>
            <a:r>
              <a:rPr lang="en-US" sz="2800" b="1" baseline="0">
                <a:solidFill>
                  <a:schemeClr val="tx1"/>
                </a:solidFill>
                <a:latin typeface="Aptos"/>
                <a:ea typeface="Segoe UI"/>
                <a:cs typeface="Segoe UI"/>
              </a:rPr>
              <a:t> insights </a:t>
            </a:r>
            <a:r>
              <a:rPr lang="en-US" sz="2800" b="1">
                <a:solidFill>
                  <a:schemeClr val="tx1"/>
                </a:solidFill>
                <a:latin typeface="Aptos"/>
                <a:ea typeface="Segoe UI"/>
                <a:cs typeface="Segoe UI"/>
              </a:rPr>
              <a:t>and Recommendations</a:t>
            </a:r>
            <a:r>
              <a:rPr lang="en-US" sz="2800" b="1" baseline="0">
                <a:solidFill>
                  <a:schemeClr val="tx1"/>
                </a:solidFill>
                <a:latin typeface="Aptos"/>
                <a:ea typeface="Segoe UI"/>
                <a:cs typeface="Segoe UI"/>
              </a:rPr>
              <a:t>.</a:t>
            </a:r>
            <a:r>
              <a:rPr lang="en-US" sz="280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​</a:t>
            </a:r>
            <a:endParaRPr lang="en-US" sz="2800" b="1">
              <a:solidFill>
                <a:schemeClr val="tx1"/>
              </a:solidFill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9A4F8D-BFB7-579F-CFE0-88F3BB4EF7BB}"/>
              </a:ext>
            </a:extLst>
          </p:cNvPr>
          <p:cNvSpPr/>
          <p:nvPr/>
        </p:nvSpPr>
        <p:spPr>
          <a:xfrm>
            <a:off x="2702943" y="308826"/>
            <a:ext cx="7768374" cy="7315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latin typeface="Times New Roman"/>
                <a:cs typeface="Times New Roman"/>
              </a:rPr>
              <a:t>Data Analysis Process</a:t>
            </a:r>
          </a:p>
        </p:txBody>
      </p:sp>
    </p:spTree>
    <p:extLst>
      <p:ext uri="{BB962C8B-B14F-4D97-AF65-F5344CB8AC3E}">
        <p14:creationId xmlns:p14="http://schemas.microsoft.com/office/powerpoint/2010/main" val="2948715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132B-B99B-E990-301E-6C0B0B35A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AD703-132E-CD83-63B8-AC348DB8A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144" y="1840002"/>
            <a:ext cx="11406995" cy="3733112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Times New Roman"/>
                <a:cs typeface="Times New Roman"/>
              </a:rPr>
              <a:t>Total 5 transactional tables having comprehensive view of the bank's ATM operations across all locations</a:t>
            </a:r>
          </a:p>
          <a:p>
            <a:r>
              <a:rPr lang="en-US" sz="2400">
                <a:latin typeface="Times New Roman"/>
                <a:cs typeface="Times New Roman"/>
              </a:rPr>
              <a:t>The Location Table provides details about ATM locations, ID, Name, no. of ATMs, City, State, and Country</a:t>
            </a:r>
          </a:p>
          <a:p>
            <a:r>
              <a:rPr lang="en-US" sz="2400">
                <a:latin typeface="Times New Roman"/>
                <a:cs typeface="Times New Roman"/>
              </a:rPr>
              <a:t>The customers dimensions table contains information about cardholders</a:t>
            </a:r>
          </a:p>
          <a:p>
            <a:r>
              <a:rPr lang="en-US" sz="2400">
                <a:latin typeface="Times New Roman"/>
                <a:cs typeface="Times New Roman"/>
              </a:rPr>
              <a:t>Transaction type dimension table defines different transaction types and names</a:t>
            </a:r>
          </a:p>
          <a:p>
            <a:r>
              <a:rPr lang="en-US" sz="2400">
                <a:latin typeface="Times New Roman"/>
                <a:cs typeface="Times New Roman"/>
              </a:rPr>
              <a:t>The hour table captures hour-related details </a:t>
            </a:r>
          </a:p>
          <a:p>
            <a:r>
              <a:rPr lang="en-US" sz="2400">
                <a:latin typeface="Times New Roman"/>
                <a:cs typeface="Times New Roman"/>
              </a:rPr>
              <a:t>The calendar dimension contains date-related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3431539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2227-0849-87F8-5519-AC989400E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Tools and Why They were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3ECCA-9A33-832A-704C-BDAE06AA9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48772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AutoNum type="arabicPeriod"/>
            </a:pPr>
            <a:endParaRPr lang="en-US" sz="2400" b="1">
              <a:latin typeface="Times New Roman"/>
              <a:cs typeface="Times New Roman"/>
            </a:endParaRPr>
          </a:p>
          <a:p>
            <a:pPr marL="342900" indent="-342900">
              <a:buAutoNum type="arabicPeriod"/>
            </a:pPr>
            <a:r>
              <a:rPr lang="en-US" sz="2400" b="1">
                <a:latin typeface="Times New Roman"/>
                <a:cs typeface="Times New Roman"/>
              </a:rPr>
              <a:t>Excel – Data Familiarization</a:t>
            </a:r>
            <a:endParaRPr lang="en-US" sz="2400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Conducting  preliminary checks and reviewing column structures</a:t>
            </a:r>
          </a:p>
          <a:p>
            <a:pPr lvl="1"/>
            <a:r>
              <a:rPr lang="en-US">
                <a:latin typeface="Times New Roman"/>
                <a:cs typeface="Times New Roman"/>
              </a:rPr>
              <a:t>Performing quick validations to ensure accuracy of raw banking data</a:t>
            </a:r>
          </a:p>
          <a:p>
            <a:pPr lvl="1"/>
            <a:r>
              <a:rPr lang="en-US">
                <a:latin typeface="Times New Roman"/>
                <a:cs typeface="Times New Roman"/>
              </a:rPr>
              <a:t>Exploring datasets to identify patterns and anomalies</a:t>
            </a:r>
          </a:p>
          <a:p>
            <a:pPr marL="0" indent="0">
              <a:buNone/>
            </a:pPr>
            <a:r>
              <a:rPr lang="en-US" sz="2400" b="1">
                <a:latin typeface="Times New Roman"/>
                <a:cs typeface="Times New Roman"/>
              </a:rPr>
              <a:t>2. SQL Server – Data Foundation</a:t>
            </a:r>
            <a:endParaRPr lang="en-US" sz="2400">
              <a:latin typeface="Times New Roman"/>
              <a:cs typeface="Times New Roman"/>
            </a:endParaRPr>
          </a:p>
          <a:p>
            <a:pPr lvl="1"/>
            <a:r>
              <a:rPr lang="en-US">
                <a:latin typeface="Times New Roman"/>
                <a:cs typeface="Times New Roman"/>
              </a:rPr>
              <a:t>Cleaning and transforming raw inputs into structured formats</a:t>
            </a:r>
          </a:p>
          <a:p>
            <a:pPr lvl="1"/>
            <a:r>
              <a:rPr lang="en-US">
                <a:latin typeface="Times New Roman"/>
                <a:cs typeface="Times New Roman"/>
              </a:rPr>
              <a:t>Writing optimized queries and establishing relationships across tables</a:t>
            </a:r>
            <a:r>
              <a:rPr lang="en-US" sz="2000">
                <a:latin typeface="Times New Roman"/>
                <a:cs typeface="Times New Roman"/>
              </a:rPr>
              <a:t> 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5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2095C-3106-B409-23EA-B25667D35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134"/>
            <a:ext cx="10515600" cy="4351338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 marL="0" indent="0">
              <a:buNone/>
            </a:pPr>
            <a:r>
              <a:rPr lang="en-US" b="1">
                <a:latin typeface="Times New Roman"/>
                <a:cs typeface="Times New Roman"/>
              </a:rPr>
              <a:t>3. Power BI – Insight Generations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Importing curated datasets for advanced visualization.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Designing interactive dashboards for dynamic exploration.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Delivering executive – ready insights to track performance and trends. </a:t>
            </a:r>
            <a:r>
              <a:rPr lang="en-US" sz="1800">
                <a:latin typeface="Times New Roman"/>
                <a:cs typeface="Times New Roman"/>
              </a:rPr>
              <a:t> </a:t>
            </a:r>
          </a:p>
          <a:p>
            <a:pPr marL="0" indent="0">
              <a:buNone/>
            </a:pPr>
            <a:r>
              <a:rPr lang="en-US" b="1">
                <a:latin typeface="Times New Roman"/>
                <a:cs typeface="Times New Roman"/>
              </a:rPr>
              <a:t>4. Power-Point – Executive Communication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Presenting complex analytics in a clear, concise format.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Storytelling with data to connect insights to business outcomes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Highlighting key recommendations and strategic impact of decision-making.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69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B6A181-F549-26C7-D3D9-FB6E61319F01}"/>
              </a:ext>
            </a:extLst>
          </p:cNvPr>
          <p:cNvSpPr/>
          <p:nvPr/>
        </p:nvSpPr>
        <p:spPr>
          <a:xfrm>
            <a:off x="131126" y="154146"/>
            <a:ext cx="2518943" cy="713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ER DIAGRAM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5C126C-9FE4-1F35-EC80-1463322DA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031" y="1043887"/>
            <a:ext cx="10192468" cy="560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515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F5A71-B103-4DFC-2CA4-0E787EC2F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346FD5-83F1-CAB3-21F2-2812D8567BFB}"/>
              </a:ext>
            </a:extLst>
          </p:cNvPr>
          <p:cNvSpPr/>
          <p:nvPr/>
        </p:nvSpPr>
        <p:spPr>
          <a:xfrm>
            <a:off x="2589163" y="592350"/>
            <a:ext cx="6342579" cy="9138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  <a:latin typeface="Times New Roman"/>
                <a:cs typeface="Times New Roman"/>
              </a:rPr>
              <a:t>KEY PERFORMANCE INDICATORS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DA2A69-CF42-ADB9-8550-2E948A840D4F}"/>
              </a:ext>
            </a:extLst>
          </p:cNvPr>
          <p:cNvSpPr/>
          <p:nvPr/>
        </p:nvSpPr>
        <p:spPr>
          <a:xfrm>
            <a:off x="950143" y="2806465"/>
            <a:ext cx="2101259" cy="583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2.14 Millions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B6981A-25AE-51AC-A293-C9A5B54A4E9D}"/>
              </a:ext>
            </a:extLst>
          </p:cNvPr>
          <p:cNvSpPr/>
          <p:nvPr/>
        </p:nvSpPr>
        <p:spPr>
          <a:xfrm>
            <a:off x="3653087" y="2806465"/>
            <a:ext cx="2101259" cy="583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38.56 billions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F3FC92-D8EA-E2D8-1054-D18EA2190D34}"/>
              </a:ext>
            </a:extLst>
          </p:cNvPr>
          <p:cNvSpPr/>
          <p:nvPr/>
        </p:nvSpPr>
        <p:spPr>
          <a:xfrm>
            <a:off x="6327276" y="2806465"/>
            <a:ext cx="2101259" cy="583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26 billions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4BDB63-66F8-7877-9D43-C3C5CA553096}"/>
              </a:ext>
            </a:extLst>
          </p:cNvPr>
          <p:cNvSpPr/>
          <p:nvPr/>
        </p:nvSpPr>
        <p:spPr>
          <a:xfrm>
            <a:off x="952948" y="2016107"/>
            <a:ext cx="2101973" cy="7942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Transaction Volume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B093E2-1439-26FE-5A09-F4C8105CA2D9}"/>
              </a:ext>
            </a:extLst>
          </p:cNvPr>
          <p:cNvSpPr/>
          <p:nvPr/>
        </p:nvSpPr>
        <p:spPr>
          <a:xfrm>
            <a:off x="3655892" y="2016107"/>
            <a:ext cx="2101973" cy="7942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Transaction Value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792DE5-8816-D160-EF51-CBB39C1D8FB7}"/>
              </a:ext>
            </a:extLst>
          </p:cNvPr>
          <p:cNvSpPr/>
          <p:nvPr/>
        </p:nvSpPr>
        <p:spPr>
          <a:xfrm>
            <a:off x="6330080" y="2016106"/>
            <a:ext cx="2101973" cy="7942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Cash Outflow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E16AA0-AC9B-541D-60FC-FCE84B36827B}"/>
              </a:ext>
            </a:extLst>
          </p:cNvPr>
          <p:cNvSpPr/>
          <p:nvPr/>
        </p:nvSpPr>
        <p:spPr>
          <a:xfrm>
            <a:off x="9073350" y="2806464"/>
            <a:ext cx="2101259" cy="583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3 billions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C11868-7621-03C9-F7B6-BB705F9ECF9B}"/>
              </a:ext>
            </a:extLst>
          </p:cNvPr>
          <p:cNvSpPr/>
          <p:nvPr/>
        </p:nvSpPr>
        <p:spPr>
          <a:xfrm>
            <a:off x="9073351" y="2015709"/>
            <a:ext cx="2101259" cy="7844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Cash Flow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6A007D-074A-CF6B-7C0E-1830062F8794}"/>
              </a:ext>
            </a:extLst>
          </p:cNvPr>
          <p:cNvSpPr/>
          <p:nvPr/>
        </p:nvSpPr>
        <p:spPr>
          <a:xfrm>
            <a:off x="950142" y="4833671"/>
            <a:ext cx="2101259" cy="4825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131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0E9ECC-CF95-1507-1F72-C716520ED631}"/>
              </a:ext>
            </a:extLst>
          </p:cNvPr>
          <p:cNvSpPr/>
          <p:nvPr/>
        </p:nvSpPr>
        <p:spPr>
          <a:xfrm>
            <a:off x="3653088" y="4819294"/>
            <a:ext cx="2101260" cy="4825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8819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75C4B7-7156-DCA6-DC61-07A46A69C0EA}"/>
              </a:ext>
            </a:extLst>
          </p:cNvPr>
          <p:cNvSpPr/>
          <p:nvPr/>
        </p:nvSpPr>
        <p:spPr>
          <a:xfrm>
            <a:off x="6327274" y="4833671"/>
            <a:ext cx="2101259" cy="482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5D52E6-29D4-1229-2334-99BA8A582FBC}"/>
              </a:ext>
            </a:extLst>
          </p:cNvPr>
          <p:cNvSpPr/>
          <p:nvPr/>
        </p:nvSpPr>
        <p:spPr>
          <a:xfrm>
            <a:off x="952947" y="4043313"/>
            <a:ext cx="2101973" cy="7798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Total ATMs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121D9A-563F-5960-B0FC-B6817B421F90}"/>
              </a:ext>
            </a:extLst>
          </p:cNvPr>
          <p:cNvSpPr/>
          <p:nvPr/>
        </p:nvSpPr>
        <p:spPr>
          <a:xfrm>
            <a:off x="3655891" y="4043314"/>
            <a:ext cx="2101973" cy="7798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Total Customers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B08E44-E014-6DD3-9EEC-206A3C08AFBA}"/>
              </a:ext>
            </a:extLst>
          </p:cNvPr>
          <p:cNvSpPr/>
          <p:nvPr/>
        </p:nvSpPr>
        <p:spPr>
          <a:xfrm>
            <a:off x="6330080" y="4057691"/>
            <a:ext cx="2101973" cy="7798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Total Locations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74ACE7-C3EF-C627-C736-B8BE8E7A6E5B}"/>
              </a:ext>
            </a:extLst>
          </p:cNvPr>
          <p:cNvSpPr/>
          <p:nvPr/>
        </p:nvSpPr>
        <p:spPr>
          <a:xfrm>
            <a:off x="9073350" y="4028539"/>
            <a:ext cx="2101259" cy="7844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Cash In-Flow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3AC0A4-0135-1176-A164-0108A1B8C125}"/>
              </a:ext>
            </a:extLst>
          </p:cNvPr>
          <p:cNvSpPr/>
          <p:nvPr/>
        </p:nvSpPr>
        <p:spPr>
          <a:xfrm>
            <a:off x="9073350" y="4819295"/>
            <a:ext cx="2101259" cy="583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10 billions</a:t>
            </a:r>
          </a:p>
        </p:txBody>
      </p:sp>
    </p:spTree>
    <p:extLst>
      <p:ext uri="{BB962C8B-B14F-4D97-AF65-F5344CB8AC3E}">
        <p14:creationId xmlns:p14="http://schemas.microsoft.com/office/powerpoint/2010/main" val="4011468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FA42-F4C6-FC46-6ECA-E93810B64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463"/>
            <a:ext cx="10501223" cy="736093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What we </a:t>
            </a:r>
            <a:r>
              <a:rPr lang="en-US" err="1"/>
              <a:t>analysed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11A02-CC9E-A341-99AB-EF4E51AB7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615" y="2141926"/>
            <a:ext cx="5253486" cy="4423225"/>
          </a:xfr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>
                <a:latin typeface="Times New Roman"/>
                <a:cs typeface="Times New Roman"/>
              </a:rPr>
              <a:t>ATM Utilization &amp; Service Efficiency</a:t>
            </a:r>
          </a:p>
          <a:p>
            <a:pPr algn="just"/>
            <a:r>
              <a:rPr lang="en-US" sz="2400">
                <a:latin typeface="Times New Roman"/>
                <a:cs typeface="Times New Roman"/>
              </a:rPr>
              <a:t>Transaction Trends across Time</a:t>
            </a:r>
          </a:p>
          <a:p>
            <a:pPr algn="just"/>
            <a:r>
              <a:rPr lang="en-US" sz="2400">
                <a:latin typeface="Times New Roman"/>
                <a:cs typeface="Times New Roman"/>
              </a:rPr>
              <a:t>Transaction Type Analysis</a:t>
            </a:r>
          </a:p>
          <a:p>
            <a:r>
              <a:rPr lang="en-US" sz="2400">
                <a:latin typeface="Times New Roman"/>
                <a:cs typeface="Times New Roman"/>
              </a:rPr>
              <a:t>Customer Segmentation &amp; Usage Behavior</a:t>
            </a:r>
          </a:p>
          <a:p>
            <a:pPr algn="just"/>
            <a:r>
              <a:rPr lang="en-US" sz="2400">
                <a:latin typeface="Times New Roman"/>
                <a:cs typeface="Times New Roman"/>
              </a:rPr>
              <a:t>Geographic Footprint &amp; Infrastructure Performance</a:t>
            </a:r>
          </a:p>
          <a:p>
            <a:pPr algn="just"/>
            <a:r>
              <a:rPr lang="en-US" sz="2400">
                <a:latin typeface="Times New Roman"/>
                <a:cs typeface="Times New Roman"/>
              </a:rPr>
              <a:t>Seasonality and Periodic Demand Patterns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77E8C-4B09-FFC0-983A-A25822DDF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2239" y="2141926"/>
            <a:ext cx="5253486" cy="4423225"/>
          </a:xfr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ATM Underutilization Analysis</a:t>
            </a:r>
          </a:p>
          <a:p>
            <a:r>
              <a:rPr lang="en-US" sz="2400">
                <a:latin typeface="Times New Roman"/>
                <a:cs typeface="Times New Roman"/>
              </a:rPr>
              <a:t>Customer Segment Impact</a:t>
            </a:r>
          </a:p>
          <a:p>
            <a:r>
              <a:rPr lang="en-US" sz="2400">
                <a:latin typeface="Times New Roman"/>
                <a:cs typeface="Times New Roman"/>
              </a:rPr>
              <a:t>Holiday Transaction Behavior</a:t>
            </a:r>
          </a:p>
          <a:p>
            <a:r>
              <a:rPr lang="en-US" sz="2400">
                <a:latin typeface="Times New Roman"/>
                <a:cs typeface="Times New Roman"/>
              </a:rPr>
              <a:t>State-wise ATM Demand Variation</a:t>
            </a:r>
          </a:p>
          <a:p>
            <a:r>
              <a:rPr lang="en-US" sz="2400">
                <a:latin typeface="Times New Roman"/>
                <a:cs typeface="Times New Roman"/>
              </a:rPr>
              <a:t>Transaction Duration root Cause</a:t>
            </a:r>
          </a:p>
          <a:p>
            <a:r>
              <a:rPr lang="en-US" sz="2400" err="1">
                <a:latin typeface="Times New Roman"/>
                <a:cs typeface="Times New Roman"/>
              </a:rPr>
              <a:t>Wisabi</a:t>
            </a:r>
            <a:r>
              <a:rPr lang="en-US" sz="2400">
                <a:latin typeface="Times New Roman"/>
                <a:cs typeface="Times New Roman"/>
              </a:rPr>
              <a:t> vs Non-</a:t>
            </a:r>
            <a:r>
              <a:rPr lang="en-US" sz="2400" err="1">
                <a:latin typeface="Times New Roman"/>
                <a:cs typeface="Times New Roman"/>
              </a:rPr>
              <a:t>Wisabi</a:t>
            </a:r>
            <a:r>
              <a:rPr lang="en-US" sz="2400">
                <a:latin typeface="Times New Roman"/>
                <a:cs typeface="Times New Roman"/>
              </a:rPr>
              <a:t> Behavior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B5F1F6-F61D-74C2-2AB1-2FD00AEC6FDC}"/>
              </a:ext>
            </a:extLst>
          </p:cNvPr>
          <p:cNvSpPr/>
          <p:nvPr/>
        </p:nvSpPr>
        <p:spPr>
          <a:xfrm>
            <a:off x="322063" y="1272131"/>
            <a:ext cx="5236102" cy="85037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latin typeface="Times New Roman"/>
                <a:cs typeface="Times New Roman"/>
              </a:rPr>
              <a:t>Descriptive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10DCB-77CF-F1A5-DADF-FA72FCCC3217}"/>
              </a:ext>
            </a:extLst>
          </p:cNvPr>
          <p:cNvSpPr/>
          <p:nvPr/>
        </p:nvSpPr>
        <p:spPr>
          <a:xfrm>
            <a:off x="6403684" y="1272129"/>
            <a:ext cx="4934179" cy="85037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Times New Roman"/>
                <a:cs typeface="Times New Roman"/>
              </a:rPr>
              <a:t>Diagnostic Analysis</a:t>
            </a:r>
          </a:p>
        </p:txBody>
      </p:sp>
    </p:spTree>
    <p:extLst>
      <p:ext uri="{BB962C8B-B14F-4D97-AF65-F5344CB8AC3E}">
        <p14:creationId xmlns:p14="http://schemas.microsoft.com/office/powerpoint/2010/main" val="2902810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F2C0F7-7603-47DC-9288-6A526A0F8BD6}"/>
              </a:ext>
            </a:extLst>
          </p:cNvPr>
          <p:cNvSpPr/>
          <p:nvPr/>
        </p:nvSpPr>
        <p:spPr>
          <a:xfrm>
            <a:off x="722886" y="1619671"/>
            <a:ext cx="6464059" cy="118757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>
                <a:latin typeface="Times New Roman"/>
                <a:cs typeface="Times New Roman"/>
              </a:rPr>
              <a:t>Descriptive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C7A011-62D0-3057-7F7E-439A4098CB19}"/>
              </a:ext>
            </a:extLst>
          </p:cNvPr>
          <p:cNvSpPr/>
          <p:nvPr/>
        </p:nvSpPr>
        <p:spPr>
          <a:xfrm>
            <a:off x="719639" y="2959508"/>
            <a:ext cx="10853433" cy="83303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>
                <a:latin typeface="Times New Roman"/>
                <a:cs typeface="Times New Roman"/>
              </a:rPr>
              <a:t>Understand what happened across the ATM Network</a:t>
            </a:r>
          </a:p>
        </p:txBody>
      </p:sp>
    </p:spTree>
    <p:extLst>
      <p:ext uri="{BB962C8B-B14F-4D97-AF65-F5344CB8AC3E}">
        <p14:creationId xmlns:p14="http://schemas.microsoft.com/office/powerpoint/2010/main" val="3138287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6D9BED-EA90-FFC4-77E5-0E4572FCB876}"/>
              </a:ext>
            </a:extLst>
          </p:cNvPr>
          <p:cNvSpPr/>
          <p:nvPr/>
        </p:nvSpPr>
        <p:spPr>
          <a:xfrm>
            <a:off x="3050844" y="500208"/>
            <a:ext cx="5874858" cy="106327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latin typeface="Times New Roman"/>
                <a:cs typeface="Times New Roman"/>
              </a:rPr>
              <a:t>ATM Utilization &amp; Service Efficiency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412A7-0328-718B-00AB-1E3755592794}"/>
              </a:ext>
            </a:extLst>
          </p:cNvPr>
          <p:cNvSpPr/>
          <p:nvPr/>
        </p:nvSpPr>
        <p:spPr>
          <a:xfrm>
            <a:off x="1543554" y="2777419"/>
            <a:ext cx="3808850" cy="10182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Total Value – 10.3 Billions</a:t>
            </a:r>
            <a:endParaRPr lang="en-US">
              <a:solidFill>
                <a:schemeClr val="tx1"/>
              </a:solidFill>
            </a:endParaRPr>
          </a:p>
          <a:p>
            <a:pPr algn="just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Total Volume – 55K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05B15-5B14-D612-4330-83469C255077}"/>
              </a:ext>
            </a:extLst>
          </p:cNvPr>
          <p:cNvSpPr/>
          <p:nvPr/>
        </p:nvSpPr>
        <p:spPr>
          <a:xfrm>
            <a:off x="1543554" y="2130438"/>
            <a:ext cx="3808850" cy="644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2400" b="1">
                <a:latin typeface="Times New Roman"/>
                <a:cs typeface="Times New Roman"/>
              </a:rPr>
              <a:t>       Top ATM – Likki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32A0A-B884-1113-1A47-30649C7E3467}"/>
              </a:ext>
            </a:extLst>
          </p:cNvPr>
          <p:cNvSpPr/>
          <p:nvPr/>
        </p:nvSpPr>
        <p:spPr>
          <a:xfrm>
            <a:off x="6431855" y="2087304"/>
            <a:ext cx="3967000" cy="644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2400" b="1">
                <a:latin typeface="Times New Roman"/>
                <a:cs typeface="Times New Roman"/>
              </a:rPr>
              <a:t>       Top State – Lagos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CC8911-ECF0-4340-5140-E838F9C3AA37}"/>
              </a:ext>
            </a:extLst>
          </p:cNvPr>
          <p:cNvSpPr/>
          <p:nvPr/>
        </p:nvSpPr>
        <p:spPr>
          <a:xfrm>
            <a:off x="6431856" y="2734285"/>
            <a:ext cx="3967000" cy="10613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Total Value – 14.3 Billions</a:t>
            </a:r>
            <a:endParaRPr lang="en-US">
              <a:solidFill>
                <a:schemeClr val="tx1"/>
              </a:solidFill>
            </a:endParaRPr>
          </a:p>
          <a:p>
            <a:pPr algn="just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Total Volume – 75K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6BEE1-5B14-E79F-5BA3-7DE3B10389B8}"/>
              </a:ext>
            </a:extLst>
          </p:cNvPr>
          <p:cNvSpPr/>
          <p:nvPr/>
        </p:nvSpPr>
        <p:spPr>
          <a:xfrm>
            <a:off x="3987704" y="4143268"/>
            <a:ext cx="3291266" cy="6443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2400" b="1">
                <a:latin typeface="Times New Roman"/>
                <a:cs typeface="Times New Roman"/>
              </a:rPr>
              <a:t>    Highest Transactions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8292FC-87DE-D1E3-770C-973E799B664B}"/>
              </a:ext>
            </a:extLst>
          </p:cNvPr>
          <p:cNvSpPr/>
          <p:nvPr/>
        </p:nvSpPr>
        <p:spPr>
          <a:xfrm>
            <a:off x="3987704" y="4790249"/>
            <a:ext cx="3291266" cy="10038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         Kano - 55K</a:t>
            </a:r>
          </a:p>
        </p:txBody>
      </p:sp>
    </p:spTree>
    <p:extLst>
      <p:ext uri="{BB962C8B-B14F-4D97-AF65-F5344CB8AC3E}">
        <p14:creationId xmlns:p14="http://schemas.microsoft.com/office/powerpoint/2010/main" val="1582335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A400BD-5086-E553-B162-F553EC60B4F1}"/>
              </a:ext>
            </a:extLst>
          </p:cNvPr>
          <p:cNvSpPr/>
          <p:nvPr/>
        </p:nvSpPr>
        <p:spPr>
          <a:xfrm>
            <a:off x="1022841" y="121566"/>
            <a:ext cx="7369834" cy="9144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600" b="1">
                <a:latin typeface="Times New Roman"/>
                <a:cs typeface="Times New Roman"/>
              </a:rPr>
              <a:t>Transaction Trends across 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2D9ECB-0878-7162-827A-ABD3765C5D90}"/>
              </a:ext>
            </a:extLst>
          </p:cNvPr>
          <p:cNvSpPr/>
          <p:nvPr/>
        </p:nvSpPr>
        <p:spPr>
          <a:xfrm>
            <a:off x="1027981" y="5636787"/>
            <a:ext cx="6204406" cy="83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Week days having highest Transactions – 1.8 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103F75-9F02-1C95-E7E0-F80F1D3F768A}"/>
              </a:ext>
            </a:extLst>
          </p:cNvPr>
          <p:cNvSpPr/>
          <p:nvPr/>
        </p:nvSpPr>
        <p:spPr>
          <a:xfrm>
            <a:off x="1027980" y="4515353"/>
            <a:ext cx="6190028" cy="83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Highest Transaction Quarter – Q1 – 0. 5 M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2678B3-B18D-8962-0B48-FCC66D60CC49}"/>
              </a:ext>
            </a:extLst>
          </p:cNvPr>
          <p:cNvSpPr/>
          <p:nvPr/>
        </p:nvSpPr>
        <p:spPr>
          <a:xfrm>
            <a:off x="1027979" y="3422673"/>
            <a:ext cx="6190028" cy="83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Peak Transaction Month – March – 0.1 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8E329E-C852-575C-FD3A-66EB3CF02722}"/>
              </a:ext>
            </a:extLst>
          </p:cNvPr>
          <p:cNvSpPr/>
          <p:nvPr/>
        </p:nvSpPr>
        <p:spPr>
          <a:xfrm>
            <a:off x="1027978" y="1294824"/>
            <a:ext cx="6190028" cy="83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Peak Transaction Hour 3-6 PM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540254-2104-4E4D-A234-3501AFDAE91E}"/>
              </a:ext>
            </a:extLst>
          </p:cNvPr>
          <p:cNvSpPr/>
          <p:nvPr/>
        </p:nvSpPr>
        <p:spPr>
          <a:xfrm>
            <a:off x="1027979" y="2387502"/>
            <a:ext cx="6190028" cy="838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Peak Transaction Day – Thursday – 0.3 M</a:t>
            </a:r>
          </a:p>
        </p:txBody>
      </p:sp>
    </p:spTree>
    <p:extLst>
      <p:ext uri="{BB962C8B-B14F-4D97-AF65-F5344CB8AC3E}">
        <p14:creationId xmlns:p14="http://schemas.microsoft.com/office/powerpoint/2010/main" val="2233724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853DAC-4972-3F5B-E494-9DAC05C0C2FC}"/>
              </a:ext>
            </a:extLst>
          </p:cNvPr>
          <p:cNvSpPr/>
          <p:nvPr/>
        </p:nvSpPr>
        <p:spPr>
          <a:xfrm>
            <a:off x="2228363" y="6744"/>
            <a:ext cx="9957759" cy="92877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600" b="1">
                <a:latin typeface="Times New Roman"/>
                <a:cs typeface="Times New Roman"/>
              </a:rPr>
              <a:t>Customer segment &amp; Usage Behavior</a:t>
            </a:r>
            <a:endParaRPr lang="en-US" sz="2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29FF3F-FAC8-4ACC-77D8-0DE841295359}"/>
              </a:ext>
            </a:extLst>
          </p:cNvPr>
          <p:cNvSpPr txBox="1"/>
          <p:nvPr/>
        </p:nvSpPr>
        <p:spPr>
          <a:xfrm>
            <a:off x="505455" y="1193266"/>
            <a:ext cx="2714548" cy="461665"/>
          </a:xfrm>
          <a:prstGeom prst="rect">
            <a:avLst/>
          </a:prstGeom>
          <a:solidFill>
            <a:srgbClr val="00206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/>
                <a:cs typeface="Times New Roman"/>
              </a:rPr>
              <a:t>  Account Type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D9BD77-CBB6-5C4E-4165-0809D5706EA3}"/>
              </a:ext>
            </a:extLst>
          </p:cNvPr>
          <p:cNvSpPr/>
          <p:nvPr/>
        </p:nvSpPr>
        <p:spPr>
          <a:xfrm>
            <a:off x="499326" y="1712918"/>
            <a:ext cx="2723521" cy="9355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Savings – 1.21 M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Current - 934K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F89DA6-E327-E175-BD75-7D9AB165F8A0}"/>
              </a:ext>
            </a:extLst>
          </p:cNvPr>
          <p:cNvSpPr txBox="1"/>
          <p:nvPr/>
        </p:nvSpPr>
        <p:spPr>
          <a:xfrm>
            <a:off x="4315455" y="1193265"/>
            <a:ext cx="2714548" cy="461665"/>
          </a:xfrm>
          <a:prstGeom prst="rect">
            <a:avLst/>
          </a:prstGeom>
          <a:solidFill>
            <a:srgbClr val="00206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/>
                <a:cs typeface="Times New Roman"/>
              </a:rPr>
              <a:t> Top Age Group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9EBEC-9518-FE3D-F2D0-E1FCAA4BA241}"/>
              </a:ext>
            </a:extLst>
          </p:cNvPr>
          <p:cNvSpPr/>
          <p:nvPr/>
        </p:nvSpPr>
        <p:spPr>
          <a:xfrm>
            <a:off x="4409969" y="1712917"/>
            <a:ext cx="2723521" cy="9355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25- 34 Years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0.7 M </a:t>
            </a:r>
            <a:r>
              <a:rPr lang="en-US" sz="2400" b="1" err="1">
                <a:solidFill>
                  <a:schemeClr val="tx1"/>
                </a:solidFill>
                <a:latin typeface="Times New Roman"/>
                <a:cs typeface="Times New Roman"/>
              </a:rPr>
              <a:t>txns</a:t>
            </a:r>
          </a:p>
          <a:p>
            <a:pPr algn="ctr"/>
            <a:endParaRPr lang="en-US" sz="24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BDA12F-FCF7-EABF-49CA-D0BAFB1C7E51}"/>
              </a:ext>
            </a:extLst>
          </p:cNvPr>
          <p:cNvSpPr txBox="1"/>
          <p:nvPr/>
        </p:nvSpPr>
        <p:spPr>
          <a:xfrm>
            <a:off x="8758058" y="1193264"/>
            <a:ext cx="2714548" cy="461665"/>
          </a:xfrm>
          <a:prstGeom prst="rect">
            <a:avLst/>
          </a:prstGeom>
          <a:solidFill>
            <a:srgbClr val="00206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/>
                <a:cs typeface="Times New Roman"/>
              </a:rPr>
              <a:t>   Gender Split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06EEA6-E9C6-097C-8647-1AA875B744B7}"/>
              </a:ext>
            </a:extLst>
          </p:cNvPr>
          <p:cNvSpPr/>
          <p:nvPr/>
        </p:nvSpPr>
        <p:spPr>
          <a:xfrm>
            <a:off x="8751930" y="1712916"/>
            <a:ext cx="2723521" cy="10362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0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  <a:latin typeface="Times New Roman"/>
                <a:cs typeface="Times New Roman"/>
              </a:rPr>
              <a:t>Male – 1.072 M </a:t>
            </a:r>
            <a:r>
              <a:rPr lang="en-US" sz="2000" b="1" err="1">
                <a:solidFill>
                  <a:schemeClr val="tx1"/>
                </a:solidFill>
                <a:latin typeface="Times New Roman"/>
                <a:cs typeface="Times New Roman"/>
              </a:rPr>
              <a:t>txns</a:t>
            </a:r>
            <a:endParaRPr lang="en-US" sz="2000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  <a:latin typeface="Times New Roman"/>
                <a:cs typeface="Times New Roman"/>
              </a:rPr>
              <a:t>Fe Male – 1.07 M txns</a:t>
            </a:r>
          </a:p>
          <a:p>
            <a:pPr algn="ctr"/>
            <a:endParaRPr lang="en-US" sz="20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8E61E8-CEF4-4E6E-B494-10FC59F5347D}"/>
              </a:ext>
            </a:extLst>
          </p:cNvPr>
          <p:cNvSpPr txBox="1"/>
          <p:nvPr/>
        </p:nvSpPr>
        <p:spPr>
          <a:xfrm>
            <a:off x="4142925" y="3177338"/>
            <a:ext cx="5244963" cy="537597"/>
          </a:xfrm>
          <a:prstGeom prst="rect">
            <a:avLst/>
          </a:prstGeom>
          <a:solidFill>
            <a:srgbClr val="00206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imes New Roman"/>
                <a:cs typeface="Times New Roman"/>
              </a:rPr>
              <a:t>      </a:t>
            </a:r>
            <a:r>
              <a:rPr lang="en-US" sz="2800" b="1" err="1">
                <a:solidFill>
                  <a:schemeClr val="bg1"/>
                </a:solidFill>
                <a:latin typeface="Times New Roman"/>
                <a:cs typeface="Times New Roman"/>
              </a:rPr>
              <a:t>Wisabi</a:t>
            </a:r>
            <a:r>
              <a:rPr lang="en-US" sz="2800" b="1">
                <a:solidFill>
                  <a:schemeClr val="bg1"/>
                </a:solidFill>
                <a:latin typeface="Times New Roman"/>
                <a:cs typeface="Times New Roman"/>
              </a:rPr>
              <a:t> vs Non-</a:t>
            </a:r>
            <a:r>
              <a:rPr lang="en-US" sz="2800" b="1" err="1">
                <a:solidFill>
                  <a:schemeClr val="bg1"/>
                </a:solidFill>
                <a:latin typeface="Times New Roman"/>
                <a:cs typeface="Times New Roman"/>
              </a:rPr>
              <a:t>Wisabi</a:t>
            </a:r>
            <a:r>
              <a:rPr lang="en-US" sz="2800" b="1">
                <a:solidFill>
                  <a:schemeClr val="bg1"/>
                </a:solidFill>
                <a:latin typeface="Times New Roman"/>
                <a:cs typeface="Times New Roman"/>
              </a:rPr>
              <a:t> 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FCD0FB-B928-10ED-EC5D-9D7B30BF771C}"/>
              </a:ext>
            </a:extLst>
          </p:cNvPr>
          <p:cNvSpPr/>
          <p:nvPr/>
        </p:nvSpPr>
        <p:spPr>
          <a:xfrm>
            <a:off x="4136797" y="3711368"/>
            <a:ext cx="5253935" cy="9930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Transaction Volume – 1.7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2 M  (80%)</a:t>
            </a:r>
            <a:endParaRPr lang="en-US" b="1">
              <a:solidFill>
                <a:schemeClr val="tx1"/>
              </a:solidFill>
            </a:endParaRPr>
          </a:p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Transaction Value – 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3.10 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016B1E-F39C-01AB-1CA2-3DB72C792E2E}"/>
              </a:ext>
            </a:extLst>
          </p:cNvPr>
          <p:cNvSpPr txBox="1"/>
          <p:nvPr/>
        </p:nvSpPr>
        <p:spPr>
          <a:xfrm>
            <a:off x="1856923" y="3953716"/>
            <a:ext cx="1880662" cy="523220"/>
          </a:xfrm>
          <a:prstGeom prst="rect">
            <a:avLst/>
          </a:prstGeom>
          <a:solidFill>
            <a:srgbClr val="00206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imes New Roman"/>
                <a:cs typeface="Times New Roman"/>
              </a:rPr>
              <a:t>    </a:t>
            </a:r>
            <a:r>
              <a:rPr lang="en-US" sz="2800" b="1" err="1">
                <a:solidFill>
                  <a:schemeClr val="bg1"/>
                </a:solidFill>
                <a:latin typeface="Times New Roman"/>
                <a:cs typeface="Times New Roman"/>
              </a:rPr>
              <a:t>Wisabi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396029-C245-797F-ACCC-489EFE68632B}"/>
              </a:ext>
            </a:extLst>
          </p:cNvPr>
          <p:cNvSpPr txBox="1"/>
          <p:nvPr/>
        </p:nvSpPr>
        <p:spPr>
          <a:xfrm>
            <a:off x="1655639" y="5247678"/>
            <a:ext cx="2297606" cy="523220"/>
          </a:xfrm>
          <a:prstGeom prst="rect">
            <a:avLst/>
          </a:prstGeom>
          <a:solidFill>
            <a:srgbClr val="00206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Times New Roman"/>
                <a:cs typeface="Times New Roman"/>
              </a:rPr>
              <a:t>Non - </a:t>
            </a:r>
            <a:r>
              <a:rPr lang="en-US" sz="2800" b="1" err="1">
                <a:solidFill>
                  <a:schemeClr val="bg1"/>
                </a:solidFill>
                <a:latin typeface="Times New Roman"/>
                <a:cs typeface="Times New Roman"/>
              </a:rPr>
              <a:t>Wisabi</a:t>
            </a:r>
            <a:endParaRPr lang="en-US" sz="28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23E577-E807-4BB0-FC56-A6380FB4F6D0}"/>
              </a:ext>
            </a:extLst>
          </p:cNvPr>
          <p:cNvSpPr/>
          <p:nvPr/>
        </p:nvSpPr>
        <p:spPr>
          <a:xfrm>
            <a:off x="4136796" y="5005329"/>
            <a:ext cx="5253935" cy="9930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Transaction Volume – 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0.42 M  (40%)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Transaction Value – 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0.76 B</a:t>
            </a:r>
          </a:p>
        </p:txBody>
      </p:sp>
    </p:spTree>
    <p:extLst>
      <p:ext uri="{BB962C8B-B14F-4D97-AF65-F5344CB8AC3E}">
        <p14:creationId xmlns:p14="http://schemas.microsoft.com/office/powerpoint/2010/main" val="3670675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EF7B35-3B8C-55C9-59B7-C2056EF25D38}"/>
              </a:ext>
            </a:extLst>
          </p:cNvPr>
          <p:cNvSpPr/>
          <p:nvPr/>
        </p:nvSpPr>
        <p:spPr>
          <a:xfrm>
            <a:off x="1737050" y="-2720"/>
            <a:ext cx="10460966" cy="9144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3600" b="1" baseline="0">
                <a:latin typeface="Times New Roman"/>
                <a:cs typeface="Times New Roman"/>
              </a:rPr>
              <a:t>Seasonality</a:t>
            </a:r>
            <a:r>
              <a:rPr lang="en-US" sz="3600" baseline="0">
                <a:latin typeface="Times New Roman"/>
                <a:cs typeface="Times New Roman"/>
              </a:rPr>
              <a:t> </a:t>
            </a:r>
            <a:r>
              <a:rPr lang="en-US" sz="3600" b="1" baseline="0">
                <a:latin typeface="Times New Roman"/>
                <a:cs typeface="Times New Roman"/>
              </a:rPr>
              <a:t>and Periodic Demand Patterns</a:t>
            </a:r>
            <a:endParaRPr lang="en-US" sz="3600" b="1">
              <a:latin typeface="Times New Roman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34D1D9-4BD9-4801-84FF-E70E018EC05D}"/>
              </a:ext>
            </a:extLst>
          </p:cNvPr>
          <p:cNvSpPr/>
          <p:nvPr/>
        </p:nvSpPr>
        <p:spPr>
          <a:xfrm>
            <a:off x="210747" y="1432949"/>
            <a:ext cx="4316924" cy="78178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Holiday vs Non-Holiday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88FA31-B575-5546-3900-21A6BD5F65EF}"/>
              </a:ext>
            </a:extLst>
          </p:cNvPr>
          <p:cNvSpPr/>
          <p:nvPr/>
        </p:nvSpPr>
        <p:spPr>
          <a:xfrm>
            <a:off x="4873562" y="1307379"/>
            <a:ext cx="6237179" cy="910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Non –Holiday Avg Transactions –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 5876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Times New Roman"/>
                <a:cs typeface="Times New Roman"/>
              </a:rPr>
              <a:t>Holiday Transactions – 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5720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20A48A-E763-D0DA-4214-B178D340B8D8}"/>
              </a:ext>
            </a:extLst>
          </p:cNvPr>
          <p:cNvSpPr/>
          <p:nvPr/>
        </p:nvSpPr>
        <p:spPr>
          <a:xfrm>
            <a:off x="210746" y="2870685"/>
            <a:ext cx="4316924" cy="78178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High/Low Transaction Day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EE4175-3B74-9033-CD0A-70DA226503E8}"/>
              </a:ext>
            </a:extLst>
          </p:cNvPr>
          <p:cNvSpPr/>
          <p:nvPr/>
        </p:nvSpPr>
        <p:spPr>
          <a:xfrm>
            <a:off x="4873561" y="2802624"/>
            <a:ext cx="6237179" cy="910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High - 2022-03-03 – 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11726</a:t>
            </a: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 Transactions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Low - 2022-12-02 – 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5560</a:t>
            </a: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 Transactions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21FFCB-DC34-E3DE-8BCD-6C5DAF493CBA}"/>
              </a:ext>
            </a:extLst>
          </p:cNvPr>
          <p:cNvSpPr/>
          <p:nvPr/>
        </p:nvSpPr>
        <p:spPr>
          <a:xfrm>
            <a:off x="210745" y="4480948"/>
            <a:ext cx="4316924" cy="55174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latin typeface="Times New Roman"/>
                <a:cs typeface="Times New Roman"/>
              </a:rPr>
              <a:t>Top &amp; Low Quarter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19844F-F865-6C50-FB96-F0739EDFAABF}"/>
              </a:ext>
            </a:extLst>
          </p:cNvPr>
          <p:cNvSpPr/>
          <p:nvPr/>
        </p:nvSpPr>
        <p:spPr>
          <a:xfrm>
            <a:off x="4873560" y="4297869"/>
            <a:ext cx="6510348" cy="9104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Top 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– Q4 –</a:t>
            </a: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Volume 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[ 0.54 M ] &amp; </a:t>
            </a: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Value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 [ 9.71 B ]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Low 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– Q2 – </a:t>
            </a: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Volume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 [ 0.53 M ] &amp; </a:t>
            </a: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Value</a:t>
            </a: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 [ 9.54B ]</a:t>
            </a:r>
          </a:p>
        </p:txBody>
      </p:sp>
    </p:spTree>
    <p:extLst>
      <p:ext uri="{BB962C8B-B14F-4D97-AF65-F5344CB8AC3E}">
        <p14:creationId xmlns:p14="http://schemas.microsoft.com/office/powerpoint/2010/main" val="2798600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79487-AFBA-A8A0-3E48-D728A4220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6DE723D-7CDD-78B8-6A1E-537337157E96}"/>
              </a:ext>
            </a:extLst>
          </p:cNvPr>
          <p:cNvSpPr/>
          <p:nvPr/>
        </p:nvSpPr>
        <p:spPr>
          <a:xfrm>
            <a:off x="722886" y="1619671"/>
            <a:ext cx="6464059" cy="118757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400" b="1">
                <a:latin typeface="Times New Roman"/>
                <a:cs typeface="Times New Roman"/>
              </a:rPr>
              <a:t>Diagnostic </a:t>
            </a:r>
            <a:r>
              <a:rPr lang="en-US" sz="4400" b="1" dirty="0">
                <a:latin typeface="Times New Roman"/>
                <a:cs typeface="Times New Roman"/>
              </a:rPr>
              <a:t>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2E4AD9-2591-C8FB-A28C-6BBA87C481EF}"/>
              </a:ext>
            </a:extLst>
          </p:cNvPr>
          <p:cNvSpPr/>
          <p:nvPr/>
        </p:nvSpPr>
        <p:spPr>
          <a:xfrm>
            <a:off x="719639" y="2959508"/>
            <a:ext cx="5217509" cy="83303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>
                <a:latin typeface="Times New Roman"/>
                <a:cs typeface="Times New Roman"/>
              </a:rPr>
              <a:t>Why is it Happening</a:t>
            </a:r>
            <a:endParaRPr lang="en-US" sz="32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348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09D-F488-981E-F8FE-9098625F3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6125" y="1127126"/>
            <a:ext cx="4448354" cy="2116317"/>
          </a:xfrm>
          <a:solidFill>
            <a:srgbClr val="002060"/>
          </a:solidFill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Underutilization &amp; </a:t>
            </a:r>
            <a:br>
              <a:rPr lang="en-US" sz="36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</a:br>
            <a:r>
              <a:rPr lang="en-US" sz="36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Customer Segment Impact</a:t>
            </a:r>
            <a:endParaRPr lang="en-US" sz="36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8D7EC1-B31F-145B-3FF2-7E56CE5F376B}"/>
              </a:ext>
            </a:extLst>
          </p:cNvPr>
          <p:cNvSpPr/>
          <p:nvPr/>
        </p:nvSpPr>
        <p:spPr>
          <a:xfrm>
            <a:off x="487924" y="285552"/>
            <a:ext cx="4474839" cy="16945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2800" b="1">
                <a:solidFill>
                  <a:schemeClr val="tx1"/>
                </a:solidFill>
                <a:latin typeface="Times New Roman"/>
                <a:cs typeface="Times New Roman"/>
              </a:rPr>
              <a:t>Highly Utilized ATM</a:t>
            </a:r>
            <a:endParaRPr lang="en-US" sz="2800">
              <a:solidFill>
                <a:schemeClr val="tx1"/>
              </a:solidFill>
            </a:endParaRPr>
          </a:p>
          <a:p>
            <a:pPr algn="just"/>
            <a:r>
              <a:rPr lang="en-US" sz="2400" b="1">
                <a:solidFill>
                  <a:schemeClr val="accent2"/>
                </a:solidFill>
                <a:latin typeface="Times New Roman"/>
                <a:cs typeface="Times New Roman"/>
              </a:rPr>
              <a:t>Sabon Gari ATM</a:t>
            </a:r>
          </a:p>
          <a:p>
            <a:pPr algn="just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26K+ Transactions per ATM</a:t>
            </a:r>
            <a:endParaRPr lang="en-US">
              <a:solidFill>
                <a:schemeClr val="tx1"/>
              </a:solidFill>
            </a:endParaRPr>
          </a:p>
          <a:p>
            <a:pPr algn="just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Serving 125 Customer each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2F6DA8-9D90-B27F-0686-FC458D0BB07C}"/>
              </a:ext>
            </a:extLst>
          </p:cNvPr>
          <p:cNvSpPr/>
          <p:nvPr/>
        </p:nvSpPr>
        <p:spPr>
          <a:xfrm>
            <a:off x="487923" y="4800040"/>
            <a:ext cx="4474840" cy="15651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2800" b="1">
                <a:solidFill>
                  <a:schemeClr val="tx1"/>
                </a:solidFill>
                <a:latin typeface="Times New Roman"/>
                <a:cs typeface="Times New Roman"/>
              </a:rPr>
              <a:t>Lowest Unique Customers</a:t>
            </a:r>
            <a:endParaRPr lang="en-US">
              <a:solidFill>
                <a:schemeClr val="tx1"/>
              </a:solidFill>
            </a:endParaRPr>
          </a:p>
          <a:p>
            <a:pPr algn="just"/>
            <a:r>
              <a:rPr lang="en-US" sz="2400" err="1">
                <a:solidFill>
                  <a:schemeClr val="tx1"/>
                </a:solidFill>
                <a:latin typeface="Times New Roman"/>
                <a:cs typeface="Times New Roman"/>
              </a:rPr>
              <a:t>Garki</a:t>
            </a: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 ATM (33),  </a:t>
            </a:r>
          </a:p>
          <a:p>
            <a:pPr algn="just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Lugbe (37) &amp; Maitama (44)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25C337-97F5-A531-5619-D743E8DD9DA8}"/>
              </a:ext>
            </a:extLst>
          </p:cNvPr>
          <p:cNvSpPr/>
          <p:nvPr/>
        </p:nvSpPr>
        <p:spPr>
          <a:xfrm>
            <a:off x="487924" y="2470910"/>
            <a:ext cx="4474840" cy="16945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2800" b="1">
                <a:solidFill>
                  <a:schemeClr val="tx1"/>
                </a:solidFill>
                <a:latin typeface="Times New Roman"/>
                <a:cs typeface="Times New Roman"/>
              </a:rPr>
              <a:t>Lowest Utilized ATM</a:t>
            </a:r>
            <a:endParaRPr lang="en-US" sz="2800">
              <a:solidFill>
                <a:schemeClr val="tx1"/>
              </a:solidFill>
            </a:endParaRPr>
          </a:p>
          <a:p>
            <a:pPr algn="just"/>
            <a:r>
              <a:rPr lang="en-US" sz="2400" b="1">
                <a:solidFill>
                  <a:schemeClr val="accent2"/>
                </a:solidFill>
                <a:latin typeface="Times New Roman"/>
                <a:cs typeface="Times New Roman"/>
              </a:rPr>
              <a:t>FCT Abuja ATM</a:t>
            </a:r>
          </a:p>
          <a:p>
            <a:pPr algn="just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6K Transactions per ATM</a:t>
            </a:r>
            <a:endParaRPr lang="en-US">
              <a:solidFill>
                <a:schemeClr val="tx1"/>
              </a:solidFill>
              <a:latin typeface="Aptos" panose="020B0004020202020204"/>
              <a:cs typeface="Times New Roman"/>
            </a:endParaRPr>
          </a:p>
          <a:p>
            <a:pPr algn="just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Serving 9 Customer each</a:t>
            </a:r>
            <a:endParaRPr lang="en-US">
              <a:solidFill>
                <a:schemeClr val="tx1"/>
              </a:solidFill>
              <a:latin typeface="Aptos" panose="020B000402020202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6097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4D958-FB30-62A3-71EE-8081534BB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CE69-A6C5-27AB-1A1B-5A7C2A256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219"/>
            <a:ext cx="10515600" cy="851111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Transaction Pattern </a:t>
            </a:r>
            <a:r>
              <a:rPr lang="en-US" sz="3600" b="1" err="1">
                <a:latin typeface="Times New Roman"/>
                <a:cs typeface="Times New Roman"/>
              </a:rPr>
              <a:t>Wisabi</a:t>
            </a:r>
            <a:r>
              <a:rPr lang="en-US" sz="3600" b="1">
                <a:latin typeface="Times New Roman"/>
                <a:cs typeface="Times New Roman"/>
              </a:rPr>
              <a:t> vs Non-</a:t>
            </a:r>
            <a:r>
              <a:rPr lang="en-US" sz="3600" b="1" err="1">
                <a:latin typeface="Times New Roman"/>
                <a:cs typeface="Times New Roman"/>
              </a:rPr>
              <a:t>Wisabi</a:t>
            </a:r>
            <a:endParaRPr lang="en-US" sz="36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8ABC1-39A0-4735-4DE0-0179A5687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43209"/>
            <a:ext cx="5052204" cy="4020659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endParaRPr lang="en-US" sz="2400">
              <a:solidFill>
                <a:srgbClr val="0A1628"/>
              </a:solidFill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17 M total transactions</a:t>
            </a:r>
            <a:endParaRPr lang="en-US" sz="2400"/>
          </a:p>
          <a:p>
            <a:pPr algn="just"/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₦ 30.98 Billions total value</a:t>
            </a:r>
          </a:p>
          <a:p>
            <a:pPr algn="just"/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4 times more holiday transactions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Sabon Gari ATM: top location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Weekday-heavy: </a:t>
            </a:r>
            <a:r>
              <a:rPr lang="en-US" sz="2400" b="1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1.48M</a:t>
            </a:r>
            <a:endParaRPr lang="en-US" sz="2400" b="1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    </a:t>
            </a:r>
            <a:r>
              <a:rPr lang="en-US" sz="2400" b="1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245K</a:t>
            </a:r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 weekend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Active across all transaction types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0E3AC-A32D-EE51-2C23-927F63BF4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14692" y="2343208"/>
            <a:ext cx="5239109" cy="4020660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600">
              <a:solidFill>
                <a:srgbClr val="0A1628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0.4 M total transactions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₦ 7.57 Billions total value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Only 9,015 holiday transactions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Spread more evenly across ATMs</a:t>
            </a:r>
          </a:p>
          <a:p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Weekday-heavy: </a:t>
            </a:r>
            <a:r>
              <a:rPr lang="en-US" sz="2400" b="1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361K </a:t>
            </a:r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vs </a:t>
            </a:r>
            <a:r>
              <a:rPr lang="en-US" sz="2400" b="1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60K weekend</a:t>
            </a:r>
          </a:p>
          <a:p>
            <a:r>
              <a:rPr lang="en-US" sz="2400">
                <a:solidFill>
                  <a:srgbClr val="0A1628"/>
                </a:solidFill>
                <a:latin typeface="Times New Roman"/>
                <a:ea typeface="Calibri"/>
                <a:cs typeface="Times New Roman"/>
              </a:rPr>
              <a:t>Lower engagement in all categorie</a:t>
            </a:r>
            <a:r>
              <a:rPr lang="en-US" sz="1400" b="1">
                <a:solidFill>
                  <a:srgbClr val="0A1628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059602-86C3-3606-754E-54A3D1631915}"/>
              </a:ext>
            </a:extLst>
          </p:cNvPr>
          <p:cNvSpPr/>
          <p:nvPr/>
        </p:nvSpPr>
        <p:spPr>
          <a:xfrm>
            <a:off x="753384" y="1358393"/>
            <a:ext cx="5236103" cy="70660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err="1">
                <a:latin typeface="Times New Roman"/>
                <a:cs typeface="Times New Roman"/>
              </a:rPr>
              <a:t>Wisabi</a:t>
            </a:r>
            <a:r>
              <a:rPr lang="en-US" sz="2800" b="1">
                <a:latin typeface="Times New Roman"/>
                <a:cs typeface="Times New Roman"/>
              </a:rPr>
              <a:t> Customers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589DE9-4A27-78B0-4BD5-3E5BFC44B432}"/>
              </a:ext>
            </a:extLst>
          </p:cNvPr>
          <p:cNvSpPr/>
          <p:nvPr/>
        </p:nvSpPr>
        <p:spPr>
          <a:xfrm>
            <a:off x="6116137" y="1358393"/>
            <a:ext cx="5236103" cy="70660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latin typeface="Times New Roman"/>
                <a:cs typeface="Times New Roman"/>
              </a:rPr>
              <a:t>Non – </a:t>
            </a:r>
            <a:r>
              <a:rPr lang="en-US" sz="2800" b="1" err="1">
                <a:latin typeface="Times New Roman"/>
                <a:cs typeface="Times New Roman"/>
              </a:rPr>
              <a:t>Wisabi</a:t>
            </a:r>
            <a:r>
              <a:rPr lang="en-US" sz="2800" b="1">
                <a:latin typeface="Times New Roman"/>
                <a:cs typeface="Times New Roman"/>
              </a:rPr>
              <a:t> Customers</a:t>
            </a:r>
          </a:p>
        </p:txBody>
      </p:sp>
    </p:spTree>
    <p:extLst>
      <p:ext uri="{BB962C8B-B14F-4D97-AF65-F5344CB8AC3E}">
        <p14:creationId xmlns:p14="http://schemas.microsoft.com/office/powerpoint/2010/main" val="3464681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6566CC-E2AB-DA4B-2A34-02FD691D2F82}"/>
              </a:ext>
            </a:extLst>
          </p:cNvPr>
          <p:cNvSpPr/>
          <p:nvPr/>
        </p:nvSpPr>
        <p:spPr>
          <a:xfrm>
            <a:off x="1523" y="-2847"/>
            <a:ext cx="12189534" cy="81581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latin typeface="Times New Roman"/>
                <a:cs typeface="Times New Roman"/>
              </a:rPr>
              <a:t>Target Audience &amp; Benefits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4EAE2E-0427-F148-940B-F09B83CA6413}"/>
              </a:ext>
            </a:extLst>
          </p:cNvPr>
          <p:cNvSpPr/>
          <p:nvPr/>
        </p:nvSpPr>
        <p:spPr>
          <a:xfrm>
            <a:off x="188428" y="1363002"/>
            <a:ext cx="3045534" cy="68641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ATM 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4AA6E5-B4B9-3C95-C225-6A775CDB57B7}"/>
              </a:ext>
            </a:extLst>
          </p:cNvPr>
          <p:cNvSpPr/>
          <p:nvPr/>
        </p:nvSpPr>
        <p:spPr>
          <a:xfrm>
            <a:off x="188428" y="3232057"/>
            <a:ext cx="3045533" cy="68641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Times New Roman"/>
                <a:cs typeface="Times New Roman"/>
              </a:rPr>
              <a:t>Marketing Team</a:t>
            </a: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6185C9-A802-AEA5-F31B-500F437CCA41}"/>
              </a:ext>
            </a:extLst>
          </p:cNvPr>
          <p:cNvSpPr/>
          <p:nvPr/>
        </p:nvSpPr>
        <p:spPr>
          <a:xfrm>
            <a:off x="3567107" y="4195342"/>
            <a:ext cx="7329987" cy="686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Demand Forecasting, High Growth Markets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E4A8F-6809-B364-94EE-F77F142FED7C}"/>
              </a:ext>
            </a:extLst>
          </p:cNvPr>
          <p:cNvSpPr/>
          <p:nvPr/>
        </p:nvSpPr>
        <p:spPr>
          <a:xfrm>
            <a:off x="3567108" y="2326284"/>
            <a:ext cx="7329987" cy="686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 </a:t>
            </a: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Seasonal Demand, expansion Business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A5A02-55C8-9F3A-5881-031A77B2AAFA}"/>
              </a:ext>
            </a:extLst>
          </p:cNvPr>
          <p:cNvSpPr/>
          <p:nvPr/>
        </p:nvSpPr>
        <p:spPr>
          <a:xfrm>
            <a:off x="3567107" y="5201754"/>
            <a:ext cx="7329987" cy="686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ROI Per ATM, Revenue Tracking,  Budget Allocation</a:t>
            </a:r>
            <a:endParaRPr lang="en-US" sz="2000">
              <a:solidFill>
                <a:schemeClr val="tx1"/>
              </a:solidFill>
              <a:latin typeface="Aptos" panose="020B0004020202020204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7615CF-C3AF-1F14-3411-7AAD5B387D74}"/>
              </a:ext>
            </a:extLst>
          </p:cNvPr>
          <p:cNvSpPr/>
          <p:nvPr/>
        </p:nvSpPr>
        <p:spPr>
          <a:xfrm>
            <a:off x="3567108" y="1363000"/>
            <a:ext cx="7329985" cy="686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Replenishment Planning, Overload prevention, uptime improvement</a:t>
            </a:r>
            <a:endParaRPr lang="en-US" sz="2000" b="1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4C2AAE-C8EB-BA4C-D01D-165688DCB727}"/>
              </a:ext>
            </a:extLst>
          </p:cNvPr>
          <p:cNvSpPr/>
          <p:nvPr/>
        </p:nvSpPr>
        <p:spPr>
          <a:xfrm>
            <a:off x="188428" y="2326284"/>
            <a:ext cx="3045535" cy="68641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2400" b="1">
                <a:solidFill>
                  <a:schemeClr val="bg1"/>
                </a:solidFill>
                <a:latin typeface="Times New Roman"/>
                <a:cs typeface="Times New Roman"/>
              </a:rPr>
              <a:t>Regional Business</a:t>
            </a:r>
            <a:endParaRPr lang="en-US" sz="2400">
              <a:solidFill>
                <a:schemeClr val="bg1"/>
              </a:solidFill>
            </a:endParaRPr>
          </a:p>
          <a:p>
            <a:pPr algn="ctr"/>
            <a:endParaRPr lang="en-US" sz="20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C5EA4E-5BE4-017F-F682-78E1D3894970}"/>
              </a:ext>
            </a:extLst>
          </p:cNvPr>
          <p:cNvSpPr/>
          <p:nvPr/>
        </p:nvSpPr>
        <p:spPr>
          <a:xfrm>
            <a:off x="3567106" y="3232057"/>
            <a:ext cx="7329987" cy="686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Age Occupation Targeting, </a:t>
            </a:r>
            <a:r>
              <a:rPr lang="en-US" sz="2000" err="1">
                <a:solidFill>
                  <a:schemeClr val="tx1"/>
                </a:solidFill>
                <a:latin typeface="Times New Roman"/>
                <a:cs typeface="Times New Roman"/>
              </a:rPr>
              <a:t>Wisabi</a:t>
            </a:r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 Onboarding Campaigns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B0D8D4-8E53-E572-CCE7-195FC5D5B1B7}"/>
              </a:ext>
            </a:extLst>
          </p:cNvPr>
          <p:cNvSpPr/>
          <p:nvPr/>
        </p:nvSpPr>
        <p:spPr>
          <a:xfrm>
            <a:off x="188428" y="4195341"/>
            <a:ext cx="3045535" cy="68641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Times New Roman"/>
                <a:cs typeface="Times New Roman"/>
              </a:rPr>
              <a:t>Strategy Team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A2DDEF-460E-D921-FE56-48C619B2FD17}"/>
              </a:ext>
            </a:extLst>
          </p:cNvPr>
          <p:cNvSpPr/>
          <p:nvPr/>
        </p:nvSpPr>
        <p:spPr>
          <a:xfrm>
            <a:off x="188427" y="5201753"/>
            <a:ext cx="3045535" cy="68641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Times New Roman"/>
                <a:cs typeface="Times New Roman"/>
              </a:rPr>
              <a:t>Finance Dept</a:t>
            </a:r>
          </a:p>
        </p:txBody>
      </p:sp>
    </p:spTree>
    <p:extLst>
      <p:ext uri="{BB962C8B-B14F-4D97-AF65-F5344CB8AC3E}">
        <p14:creationId xmlns:p14="http://schemas.microsoft.com/office/powerpoint/2010/main" val="4251504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234EA6-8982-7224-062C-8CDA1D4C869D}"/>
              </a:ext>
            </a:extLst>
          </p:cNvPr>
          <p:cNvSpPr/>
          <p:nvPr/>
        </p:nvSpPr>
        <p:spPr>
          <a:xfrm>
            <a:off x="563880" y="243840"/>
            <a:ext cx="5020861" cy="8082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  <a:latin typeface="Times New Roman"/>
                <a:cs typeface="Times New Roman"/>
              </a:rPr>
              <a:t>Recommendations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FD999C-F327-A51F-69EA-21E3B7B25AC2}"/>
              </a:ext>
            </a:extLst>
          </p:cNvPr>
          <p:cNvSpPr/>
          <p:nvPr/>
        </p:nvSpPr>
        <p:spPr>
          <a:xfrm>
            <a:off x="448893" y="1353068"/>
            <a:ext cx="11587350" cy="44601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Some of the recommendations based on the generated insights are:</a:t>
            </a:r>
          </a:p>
          <a:p>
            <a:pPr algn="just"/>
            <a:endParaRPr lang="en-US" sz="24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 algn="just">
              <a:buAutoNum type="arabicPeriod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Consider increasing ATM availability.</a:t>
            </a:r>
          </a:p>
          <a:p>
            <a:pPr marL="342900" indent="-342900" algn="just">
              <a:buAutoNum type="arabicPeriod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Optimize maintenance schedules to minimize downtime</a:t>
            </a:r>
          </a:p>
          <a:p>
            <a:pPr marL="342900" indent="-342900" algn="just">
              <a:buAutoNum type="arabicPeriod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Add more ATMs in cities with fewer machines but high transaction volumes.</a:t>
            </a:r>
          </a:p>
          <a:p>
            <a:pPr marL="342900" indent="-342900" algn="just">
              <a:buAutoNum type="arabicPeriod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Do cash reserve planning this approach can minimize the cash shortage risk during peak transaction months</a:t>
            </a:r>
          </a:p>
          <a:p>
            <a:pPr marL="342900" indent="-342900" algn="just">
              <a:buAutoNum type="arabicPeriod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Develop and promote seasonal financial products.</a:t>
            </a:r>
          </a:p>
          <a:p>
            <a:pPr marL="342900" indent="-342900" algn="just">
              <a:buAutoNum type="arabicPeriod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Develop an offer financial products and services for their specific needs of the students.</a:t>
            </a:r>
          </a:p>
          <a:p>
            <a:pPr marL="342900" indent="-342900" algn="just">
              <a:buAutoNum type="arabicPeriod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Highlight specific services that align with the transaction behaviors of each occupation.</a:t>
            </a:r>
          </a:p>
          <a:p>
            <a:pPr marL="342900" indent="-342900" algn="just">
              <a:buAutoNum type="arabicPeriod"/>
            </a:pPr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Actively seek feedback from customers of different occupations.</a:t>
            </a:r>
          </a:p>
          <a:p>
            <a:pPr marL="342900" indent="-342900" algn="ctr">
              <a:buAutoNum type="arabicPeriod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292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9F0151-5BF2-86A9-F19A-10FC3957C664}"/>
              </a:ext>
            </a:extLst>
          </p:cNvPr>
          <p:cNvSpPr/>
          <p:nvPr/>
        </p:nvSpPr>
        <p:spPr>
          <a:xfrm>
            <a:off x="3978215" y="2168968"/>
            <a:ext cx="4240171" cy="90232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latin typeface="Times New Roman"/>
                <a:cs typeface="Times New Roman"/>
              </a:rPr>
              <a:t>THANK Y0U</a:t>
            </a:r>
          </a:p>
        </p:txBody>
      </p:sp>
    </p:spTree>
    <p:extLst>
      <p:ext uri="{BB962C8B-B14F-4D97-AF65-F5344CB8AC3E}">
        <p14:creationId xmlns:p14="http://schemas.microsoft.com/office/powerpoint/2010/main" val="420620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Key Components of the Dataset</vt:lpstr>
      <vt:lpstr>PowerPoint Presentation</vt:lpstr>
      <vt:lpstr>Dataset Overview</vt:lpstr>
      <vt:lpstr>Tools and Why They were used</vt:lpstr>
      <vt:lpstr>PowerPoint Presentation</vt:lpstr>
      <vt:lpstr>PowerPoint Presentation</vt:lpstr>
      <vt:lpstr>PowerPoint Presentation</vt:lpstr>
      <vt:lpstr>What we analysed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Underutilization &amp;  Customer Segment Impact</vt:lpstr>
      <vt:lpstr>Transaction Pattern Wisabi vs Non-Wisabi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15</cp:revision>
  <dcterms:created xsi:type="dcterms:W3CDTF">2013-07-15T20:26:40Z</dcterms:created>
  <dcterms:modified xsi:type="dcterms:W3CDTF">2026-03-26T10:55:50Z</dcterms:modified>
</cp:coreProperties>
</file>